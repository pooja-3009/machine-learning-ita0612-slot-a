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096512" cy="6858000"/>
          </a:xfrm>
          <a:prstGeom prst="rect">
            <a:avLst/>
          </a:prstGeom>
          <a:solidFill>
            <a:srgbClr val="F4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784080" y="594360"/>
            <a:ext cx="1417320" cy="1417320"/>
          </a:xfrm>
          <a:prstGeom prst="ellipse">
            <a:avLst/>
          </a:prstGeom>
          <a:solidFill>
            <a:srgbClr val="EEA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44200" y="1417320"/>
            <a:ext cx="960120" cy="960120"/>
          </a:xfrm>
          <a:prstGeom prst="ellipse">
            <a:avLst/>
          </a:prstGeom>
          <a:solidFill>
            <a:srgbClr val="8BC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69680" y="5166360"/>
            <a:ext cx="1325880" cy="1325880"/>
          </a:xfrm>
          <a:prstGeom prst="ellipse">
            <a:avLst/>
          </a:prstGeom>
          <a:solidFill>
            <a:srgbClr val="BEA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051560"/>
            <a:ext cx="4442113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6A4991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</a:p>
          <a:p>
            <a:pPr>
              <a:defRPr sz="4200" b="1">
                <a:solidFill>
                  <a:srgbClr val="2B273C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378045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E5B8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approach to classification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decision making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2468946" cy="12849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B273C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  |   Pooja S</a:t>
            </a:r>
          </a:p>
          <a:p>
            <a:pPr>
              <a:spcAft>
                <a:spcPts val="700"/>
              </a:spcAft>
              <a:defRPr sz="1500">
                <a:solidFill>
                  <a:srgbClr val="2B273C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 No   |   192524211</a:t>
            </a:r>
          </a:p>
          <a:p>
            <a:pPr>
              <a:spcAft>
                <a:spcPts val="700"/>
              </a:spcAft>
              <a:defRPr sz="1500">
                <a:solidFill>
                  <a:srgbClr val="2B273C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  |   Machine Learning</a:t>
            </a:r>
          </a:p>
          <a:p>
            <a:pPr>
              <a:spcAft>
                <a:spcPts val="700"/>
              </a:spcAft>
              <a:defRPr sz="1500">
                <a:solidFill>
                  <a:srgbClr val="2B273C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   |   ITA0612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2331720"/>
            <a:ext cx="20116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A4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6A4991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566160"/>
            <a:ext cx="1234440" cy="530352"/>
          </a:xfrm>
          <a:prstGeom prst="roundRect">
            <a:avLst/>
          </a:prstGeom>
          <a:solidFill>
            <a:srgbClr val="EDF8FD"/>
          </a:solidFill>
          <a:ln w="12700">
            <a:solidFill>
              <a:srgbClr val="8BC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4E91B4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29800" y="3566160"/>
            <a:ext cx="1234440" cy="530352"/>
          </a:xfrm>
          <a:prstGeom prst="roundRect">
            <a:avLst/>
          </a:prstGeom>
          <a:solidFill>
            <a:srgbClr val="FDF0F7"/>
          </a:solidFill>
          <a:ln w="12700">
            <a:solidFill>
              <a:srgbClr val="EEA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BE5B8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4681728"/>
            <a:ext cx="17373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B273C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82912" y="4681728"/>
            <a:ext cx="17373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B273C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B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8851392" y="2953512"/>
            <a:ext cx="795528" cy="612648"/>
          </a:xfrm>
          <a:prstGeom prst="line">
            <a:avLst/>
          </a:prstGeom>
          <a:ln w="25400">
            <a:solidFill>
              <a:srgbClr val="6A4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46920" y="2953512"/>
            <a:ext cx="804672" cy="612648"/>
          </a:xfrm>
          <a:prstGeom prst="line">
            <a:avLst/>
          </a:prstGeom>
          <a:ln w="25400">
            <a:solidFill>
              <a:srgbClr val="6A4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851392" y="4096512"/>
            <a:ext cx="0" cy="585216"/>
          </a:xfrm>
          <a:prstGeom prst="line">
            <a:avLst/>
          </a:prstGeom>
          <a:ln w="20320">
            <a:solidFill>
              <a:srgbClr val="4E91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451592" y="4096512"/>
            <a:ext cx="0" cy="585216"/>
          </a:xfrm>
          <a:prstGeom prst="line">
            <a:avLst/>
          </a:prstGeom>
          <a:ln w="20320">
            <a:solidFill>
              <a:srgbClr val="BE5B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A4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310896"/>
            <a:ext cx="4107856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B273C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Decision Tree?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4747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A4991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77824"/>
            <a:ext cx="3562963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647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visual, rule-based approach to making predictions.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26049"/>
            <a:ext cx="56692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defRPr sz="1800">
                <a:solidFill>
                  <a:srgbClr val="2B273C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A supervised learning algorithm used for classification and decision-making.</a:t>
            </a:r>
          </a:p>
          <a:p>
            <a:pPr algn="just">
              <a:spcAft>
                <a:spcPts val="1200"/>
              </a:spcAft>
              <a:defRPr sz="1800">
                <a:solidFill>
                  <a:srgbClr val="2B273C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is divided by asking simple questions about features.</a:t>
            </a:r>
          </a:p>
          <a:p>
            <a:pPr algn="just">
              <a:spcAft>
                <a:spcPts val="1200"/>
              </a:spcAft>
              <a:defRPr sz="1800">
                <a:solidFill>
                  <a:srgbClr val="2B273C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Branches represent possible answers.</a:t>
            </a:r>
          </a:p>
          <a:p>
            <a:pPr algn="just">
              <a:spcAft>
                <a:spcPts val="1200"/>
              </a:spcAft>
              <a:defRPr sz="1800">
                <a:solidFill>
                  <a:srgbClr val="2B273C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Leaf nodes represent the final prediction.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417320"/>
            <a:ext cx="2331720" cy="658368"/>
          </a:xfrm>
          <a:prstGeom prst="roundRect">
            <a:avLst/>
          </a:prstGeom>
          <a:solidFill>
            <a:srgbClr val="BEA0EB"/>
          </a:solidFill>
          <a:ln w="12700">
            <a:solidFill>
              <a:srgbClr val="6A4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B273C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it raining?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2148840" cy="822960"/>
          </a:xfrm>
          <a:prstGeom prst="roundRect">
            <a:avLst/>
          </a:prstGeom>
          <a:solidFill>
            <a:srgbClr val="EDF8FD"/>
          </a:solidFill>
          <a:ln w="12700">
            <a:solidFill>
              <a:srgbClr val="8BC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B273C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umbrella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72600" y="2743200"/>
            <a:ext cx="2148840" cy="822960"/>
          </a:xfrm>
          <a:prstGeom prst="roundRect">
            <a:avLst/>
          </a:prstGeom>
          <a:solidFill>
            <a:srgbClr val="FDF0F7"/>
          </a:solidFill>
          <a:ln w="12700">
            <a:solidFill>
              <a:srgbClr val="EEA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B273C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outside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7388352" y="2075688"/>
            <a:ext cx="1371600" cy="667512"/>
          </a:xfrm>
          <a:prstGeom prst="line">
            <a:avLst/>
          </a:prstGeom>
          <a:ln w="21590">
            <a:solidFill>
              <a:srgbClr val="D3C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759952" y="2075688"/>
            <a:ext cx="1682496" cy="667512"/>
          </a:xfrm>
          <a:prstGeom prst="line">
            <a:avLst/>
          </a:prstGeom>
          <a:ln w="21590">
            <a:solidFill>
              <a:srgbClr val="D3C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909560" y="4251960"/>
            <a:ext cx="1691640" cy="502920"/>
          </a:xfrm>
          <a:prstGeom prst="roundRect">
            <a:avLst/>
          </a:prstGeom>
          <a:solidFill>
            <a:srgbClr val="F4EDFB"/>
          </a:solidFill>
          <a:ln w="12700">
            <a:solidFill>
              <a:srgbClr val="D3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6A4991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4251960"/>
            <a:ext cx="1691640" cy="502920"/>
          </a:xfrm>
          <a:prstGeom prst="roundRect">
            <a:avLst/>
          </a:prstGeom>
          <a:solidFill>
            <a:srgbClr val="EDF8FD"/>
          </a:solidFill>
          <a:ln w="12700">
            <a:solidFill>
              <a:srgbClr val="D3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4E91B4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5166360"/>
            <a:ext cx="36576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B273C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 = final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519672"/>
            <a:ext cx="10881360" cy="13716"/>
          </a:xfrm>
          <a:prstGeom prst="rect">
            <a:avLst/>
          </a:prstGeom>
          <a:solidFill>
            <a:srgbClr val="D3C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6556248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478"/>
                </a:solidFill>
              </a:defRPr>
            </a:pPr>
            <a:r>
              <a:t>MACHINE LEARNING  •  DECISION TREE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A4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310896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B273C"/>
                </a:solidFill>
              </a:defRPr>
            </a:pPr>
            <a:r>
              <a:t>How Does a Decision Tree 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4747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A4991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7782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6478"/>
                </a:solidFill>
              </a:defRPr>
            </a:pPr>
            <a:r>
              <a:t>The learning process follows a simple sequence.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502920" cy="438912"/>
          </a:xfrm>
          <a:prstGeom prst="roundRect">
            <a:avLst/>
          </a:prstGeom>
          <a:solidFill>
            <a:srgbClr val="BEA0EB"/>
          </a:solidFill>
          <a:ln w="12700">
            <a:solidFill>
              <a:srgbClr val="6A4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B273C"/>
                </a:solidFill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395728"/>
            <a:ext cx="1874519" cy="822960"/>
          </a:xfrm>
          <a:prstGeom prst="roundRect">
            <a:avLst/>
          </a:prstGeom>
          <a:solidFill>
            <a:srgbClr val="F4EDFB"/>
          </a:solidFill>
          <a:ln w="12700">
            <a:solidFill>
              <a:srgbClr val="6A4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B273C"/>
                </a:solidFill>
              </a:defRPr>
            </a:pPr>
            <a:r>
              <a:t>Training data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23160" y="2807208"/>
            <a:ext cx="274319" cy="0"/>
          </a:xfrm>
          <a:prstGeom prst="line">
            <a:avLst/>
          </a:prstGeom>
          <a:ln w="22860">
            <a:solidFill>
              <a:srgbClr val="D3C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80360" y="1691640"/>
            <a:ext cx="502920" cy="438912"/>
          </a:xfrm>
          <a:prstGeom prst="roundRect">
            <a:avLst/>
          </a:prstGeom>
          <a:solidFill>
            <a:srgbClr val="EEA4C4"/>
          </a:solidFill>
          <a:ln w="12700">
            <a:solidFill>
              <a:srgbClr val="BE5B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B273C"/>
                </a:solidFill>
              </a:defRPr>
            </a:pPr>
            <a: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79" y="2395728"/>
            <a:ext cx="1874519" cy="822960"/>
          </a:xfrm>
          <a:prstGeom prst="roundRect">
            <a:avLst/>
          </a:prstGeom>
          <a:solidFill>
            <a:srgbClr val="FDF0F7"/>
          </a:solidFill>
          <a:ln w="12700">
            <a:solidFill>
              <a:srgbClr val="BE5B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B273C"/>
                </a:solidFill>
              </a:defRPr>
            </a:pPr>
            <a:r>
              <a:t>Best feature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09160" y="2807208"/>
            <a:ext cx="274319" cy="0"/>
          </a:xfrm>
          <a:prstGeom prst="line">
            <a:avLst/>
          </a:prstGeom>
          <a:ln w="22860">
            <a:solidFill>
              <a:srgbClr val="D3C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1691640"/>
            <a:ext cx="502920" cy="438912"/>
          </a:xfrm>
          <a:prstGeom prst="roundRect">
            <a:avLst/>
          </a:prstGeom>
          <a:solidFill>
            <a:srgbClr val="BEA0EB"/>
          </a:solidFill>
          <a:ln w="12700">
            <a:solidFill>
              <a:srgbClr val="6A4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B273C"/>
                </a:solidFill>
              </a:defRPr>
            </a:pPr>
            <a:r>
              <a:t>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2395728"/>
            <a:ext cx="187451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A4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B273C"/>
                </a:solidFill>
              </a:defRPr>
            </a:pPr>
            <a:r>
              <a:t>Split data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95160" y="2807208"/>
            <a:ext cx="274320" cy="0"/>
          </a:xfrm>
          <a:prstGeom prst="line">
            <a:avLst/>
          </a:prstGeom>
          <a:ln w="22860">
            <a:solidFill>
              <a:srgbClr val="D3C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52360" y="1691640"/>
            <a:ext cx="502920" cy="438912"/>
          </a:xfrm>
          <a:prstGeom prst="roundRect">
            <a:avLst/>
          </a:prstGeom>
          <a:solidFill>
            <a:srgbClr val="8BC7E6"/>
          </a:solidFill>
          <a:ln w="12700">
            <a:solidFill>
              <a:srgbClr val="4E9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B273C"/>
                </a:solidFill>
              </a:defRPr>
            </a:pPr>
            <a:r>
              <a:t>04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2395728"/>
            <a:ext cx="1874519" cy="822960"/>
          </a:xfrm>
          <a:prstGeom prst="roundRect">
            <a:avLst/>
          </a:prstGeom>
          <a:solidFill>
            <a:srgbClr val="EDF8FD"/>
          </a:solidFill>
          <a:ln w="12700">
            <a:solidFill>
              <a:srgbClr val="4E9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B273C"/>
                </a:solidFill>
              </a:defRPr>
            </a:pPr>
            <a:r>
              <a:t>Repeat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81160" y="2807208"/>
            <a:ext cx="274320" cy="0"/>
          </a:xfrm>
          <a:prstGeom prst="line">
            <a:avLst/>
          </a:prstGeom>
          <a:ln w="22860">
            <a:solidFill>
              <a:srgbClr val="D3C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738360" y="1691640"/>
            <a:ext cx="502920" cy="438912"/>
          </a:xfrm>
          <a:prstGeom prst="roundRect">
            <a:avLst/>
          </a:prstGeom>
          <a:solidFill>
            <a:srgbClr val="BEA0EB"/>
          </a:solidFill>
          <a:ln w="12700">
            <a:solidFill>
              <a:srgbClr val="6A4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B273C"/>
                </a:solidFill>
              </a:defRPr>
            </a:pPr>
            <a:r>
              <a:t>05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2395728"/>
            <a:ext cx="1874519" cy="822960"/>
          </a:xfrm>
          <a:prstGeom prst="roundRect">
            <a:avLst/>
          </a:prstGeom>
          <a:solidFill>
            <a:srgbClr val="F4EDFB"/>
          </a:solidFill>
          <a:ln w="12700">
            <a:solidFill>
              <a:srgbClr val="6A4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B273C"/>
                </a:solidFill>
              </a:defRPr>
            </a:pPr>
            <a:r>
              <a:t>Prediction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4434840"/>
            <a:ext cx="85496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6A4991"/>
                </a:solidFill>
              </a:defRPr>
            </a:pPr>
            <a:r>
              <a:t>Example  •  Weather → Humidity → Play / Don't Play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519672"/>
            <a:ext cx="10881360" cy="13716"/>
          </a:xfrm>
          <a:prstGeom prst="rect">
            <a:avLst/>
          </a:prstGeom>
          <a:solidFill>
            <a:srgbClr val="D3C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6556248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478"/>
                </a:solidFill>
              </a:defRPr>
            </a:pPr>
            <a:r>
              <a:t>MACHINE LEARNING  •  DECISION TREE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A4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310896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B273C"/>
                </a:solidFill>
              </a:defRPr>
            </a:pPr>
            <a:r>
              <a:t>Entropy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4747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A4991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7782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6478"/>
                </a:solidFill>
              </a:defRPr>
            </a:pPr>
            <a:r>
              <a:t>Measuring impurity or uncertainty in the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08760"/>
            <a:ext cx="3200400" cy="530352"/>
          </a:xfrm>
          <a:prstGeom prst="roundRect">
            <a:avLst/>
          </a:prstGeom>
          <a:solidFill>
            <a:srgbClr val="EDF8FD"/>
          </a:solidFill>
          <a:ln w="12700">
            <a:solidFill>
              <a:srgbClr val="8BC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4E91B4"/>
                </a:solidFill>
              </a:defRPr>
            </a:pPr>
            <a:r>
              <a:t>LOW ENTROPY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3200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0">
                <a:solidFill>
                  <a:srgbClr val="2B273C"/>
                </a:solidFill>
              </a:defRPr>
            </a:pPr>
            <a:r>
              <a:t>●  ●  ●  ●  ●</a:t>
            </a:r>
            <a:br/>
            <a:r>
              <a:t>Mostly one class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08760"/>
            <a:ext cx="3200400" cy="530352"/>
          </a:xfrm>
          <a:prstGeom prst="roundRect">
            <a:avLst/>
          </a:prstGeom>
          <a:solidFill>
            <a:srgbClr val="FDF0F7"/>
          </a:solidFill>
          <a:ln w="12700">
            <a:solidFill>
              <a:srgbClr val="EEA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BE5B89"/>
                </a:solidFill>
              </a:defRPr>
            </a:pPr>
            <a:r>
              <a:t>HIGH ENTROPY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00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0">
                <a:solidFill>
                  <a:srgbClr val="2B273C"/>
                </a:solidFill>
              </a:defRPr>
            </a:pPr>
            <a:r>
              <a:t>●  ▲  ●  ▲  ▲</a:t>
            </a:r>
            <a:br/>
            <a:r>
              <a:t>Classes are mixed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08760"/>
            <a:ext cx="3154680" cy="530352"/>
          </a:xfrm>
          <a:prstGeom prst="roundRect">
            <a:avLst/>
          </a:prstGeom>
          <a:solidFill>
            <a:srgbClr val="F4EDFB"/>
          </a:solidFill>
          <a:ln w="12700">
            <a:solidFill>
              <a:srgbClr val="6A4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6A4991"/>
                </a:solidFill>
              </a:defRPr>
            </a:pPr>
            <a:r>
              <a:t>Why does it matter?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14884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0">
                <a:solidFill>
                  <a:srgbClr val="2B273C"/>
                </a:solidFill>
              </a:defRPr>
            </a:pPr>
            <a:r>
              <a:t>The tree prefers splits</a:t>
            </a:r>
            <a:br/>
            <a:r>
              <a:t>that reduce impurity.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57400" y="4251960"/>
            <a:ext cx="8092440" cy="777240"/>
          </a:xfrm>
          <a:prstGeom prst="roundRect">
            <a:avLst/>
          </a:prstGeom>
          <a:solidFill>
            <a:srgbClr val="F4EDFB"/>
          </a:solidFill>
          <a:ln w="12700">
            <a:solidFill>
              <a:srgbClr val="D3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B273C"/>
                </a:solidFill>
              </a:defRPr>
            </a:pPr>
            <a:r>
              <a:t>Simple idea:  More disorder  →  Higher entropy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519672"/>
            <a:ext cx="10881360" cy="13716"/>
          </a:xfrm>
          <a:prstGeom prst="rect">
            <a:avLst/>
          </a:prstGeom>
          <a:solidFill>
            <a:srgbClr val="D3C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6556248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478"/>
                </a:solidFill>
              </a:defRPr>
            </a:pPr>
            <a:r>
              <a:t>MACHINE LEARNING  •  DECISION TREE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A4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310896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B273C"/>
                </a:solidFill>
              </a:defRPr>
            </a:pPr>
            <a:r>
              <a:t>Information Gain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4747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A4991"/>
                </a:solidFill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7782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6478"/>
                </a:solidFill>
              </a:defRPr>
            </a:pPr>
            <a:r>
              <a:t>Choosing the feature that gives the most useful split.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2971800" cy="566928"/>
          </a:xfrm>
          <a:prstGeom prst="roundRect">
            <a:avLst/>
          </a:prstGeom>
          <a:solidFill>
            <a:srgbClr val="EDF8FD"/>
          </a:solidFill>
          <a:ln w="12700">
            <a:solidFill>
              <a:srgbClr val="8BC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B273C"/>
                </a:solidFill>
              </a:defRPr>
            </a:pPr>
            <a:r>
              <a:t>Feature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31720"/>
            <a:ext cx="2971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B273C"/>
                </a:solidFill>
              </a:defRPr>
            </a:pPr>
            <a:r>
              <a:t>Low improvement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554480"/>
            <a:ext cx="2971800" cy="566928"/>
          </a:xfrm>
          <a:prstGeom prst="roundRect">
            <a:avLst/>
          </a:prstGeom>
          <a:solidFill>
            <a:srgbClr val="F4EDFB"/>
          </a:solidFill>
          <a:ln w="12700">
            <a:solidFill>
              <a:srgbClr val="6A4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B273C"/>
                </a:solidFill>
              </a:defRPr>
            </a:pPr>
            <a:r>
              <a:t>Feature 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331720"/>
            <a:ext cx="2971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B273C"/>
                </a:solidFill>
              </a:defRPr>
            </a:pPr>
            <a:r>
              <a:t>Medium improvement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554480"/>
            <a:ext cx="2971800" cy="566928"/>
          </a:xfrm>
          <a:prstGeom prst="roundRect">
            <a:avLst/>
          </a:prstGeom>
          <a:solidFill>
            <a:srgbClr val="FDF0F7"/>
          </a:solidFill>
          <a:ln w="12700">
            <a:solidFill>
              <a:srgbClr val="BE5B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B273C"/>
                </a:solidFill>
              </a:defRPr>
            </a:pPr>
            <a:r>
              <a:t>Feature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331720"/>
            <a:ext cx="2971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B273C"/>
                </a:solidFill>
              </a:defRPr>
            </a:pPr>
            <a:r>
              <a:t>Highest improvement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34272" y="3273552"/>
            <a:ext cx="1554480" cy="438912"/>
          </a:xfrm>
          <a:prstGeom prst="roundRect">
            <a:avLst/>
          </a:prstGeom>
          <a:solidFill>
            <a:srgbClr val="BE5B89"/>
          </a:solidFill>
          <a:ln w="12700">
            <a:solidFill>
              <a:srgbClr val="BE5B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BEST SPLIT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480560"/>
            <a:ext cx="8549640" cy="822960"/>
          </a:xfrm>
          <a:prstGeom prst="roundRect">
            <a:avLst/>
          </a:prstGeom>
          <a:solidFill>
            <a:srgbClr val="F4EDFB"/>
          </a:solidFill>
          <a:ln w="12700">
            <a:solidFill>
              <a:srgbClr val="6A4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2B273C"/>
                </a:solidFill>
              </a:defRPr>
            </a:pPr>
            <a:r>
              <a:t>Highest Information Gain  →  Best split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519672"/>
            <a:ext cx="10881360" cy="13716"/>
          </a:xfrm>
          <a:prstGeom prst="rect">
            <a:avLst/>
          </a:prstGeom>
          <a:solidFill>
            <a:srgbClr val="D3C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6556248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478"/>
                </a:solidFill>
              </a:defRPr>
            </a:pPr>
            <a:r>
              <a:t>MACHINE LEARNING  •  DECISION TREE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A4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310896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B273C"/>
                </a:solidFill>
              </a:defRPr>
            </a:pPr>
            <a:r>
              <a:t>Tree Pruning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4747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A4991"/>
                </a:solidFill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7782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6478"/>
                </a:solidFill>
              </a:defRPr>
            </a:pPr>
            <a:r>
              <a:t>Removing unnecessary branches to improve simplicity and generalization.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325880"/>
            <a:ext cx="397763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A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BE5B89"/>
                </a:solidFill>
              </a:defRPr>
            </a:pPr>
            <a:r>
              <a:t>BEFORE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325880"/>
            <a:ext cx="3977639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C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4E91B4"/>
                </a:solidFill>
              </a:defRPr>
            </a:pPr>
            <a:r>
              <a:t>AFTER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2148840"/>
            <a:ext cx="1417320" cy="457200"/>
          </a:xfrm>
          <a:prstGeom prst="roundRect">
            <a:avLst/>
          </a:prstGeom>
          <a:solidFill>
            <a:srgbClr val="BEA0EB"/>
          </a:solidFill>
          <a:ln w="12700">
            <a:solidFill>
              <a:srgbClr val="6A4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B273C"/>
                </a:solidFill>
              </a:defRPr>
            </a:pPr>
            <a:r>
              <a:t>Root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71800"/>
            <a:ext cx="9144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B273C"/>
                </a:solidFill>
              </a:defRPr>
            </a:pPr>
            <a:r>
              <a:t>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2971800"/>
            <a:ext cx="9144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B273C"/>
                </a:solidFill>
              </a:defRPr>
            </a:pPr>
            <a:r>
              <a:t>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971800"/>
            <a:ext cx="9144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B273C"/>
                </a:solidFill>
              </a:defRPr>
            </a:pPr>
            <a:r>
              <a:t>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3886200"/>
            <a:ext cx="9144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B273C"/>
                </a:solidFill>
              </a:defRPr>
            </a:pPr>
            <a:r>
              <a:t>extra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886200"/>
            <a:ext cx="9144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B273C"/>
                </a:solidFill>
              </a:defRPr>
            </a:pPr>
            <a:r>
              <a:t>extra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371600" y="2606040"/>
            <a:ext cx="1444752" cy="365760"/>
          </a:xfrm>
          <a:prstGeom prst="line">
            <a:avLst/>
          </a:prstGeom>
          <a:ln w="21590">
            <a:solidFill>
              <a:srgbClr val="D3C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514600" y="2606040"/>
            <a:ext cx="301752" cy="365760"/>
          </a:xfrm>
          <a:prstGeom prst="line">
            <a:avLst/>
          </a:prstGeom>
          <a:ln w="21590">
            <a:solidFill>
              <a:srgbClr val="D3C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16352" y="2606040"/>
            <a:ext cx="841248" cy="365760"/>
          </a:xfrm>
          <a:prstGeom prst="line">
            <a:avLst/>
          </a:prstGeom>
          <a:ln w="21590">
            <a:solidFill>
              <a:srgbClr val="D3C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549640" y="2148840"/>
            <a:ext cx="1417320" cy="457200"/>
          </a:xfrm>
          <a:prstGeom prst="roundRect">
            <a:avLst/>
          </a:prstGeom>
          <a:solidFill>
            <a:srgbClr val="BEA0EB"/>
          </a:solidFill>
          <a:ln w="12700">
            <a:solidFill>
              <a:srgbClr val="6A4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B273C"/>
                </a:solidFill>
              </a:defRPr>
            </a:pPr>
            <a:r>
              <a:t>Root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3063240"/>
            <a:ext cx="2880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C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B273C"/>
                </a:solidFill>
              </a:defRPr>
            </a:pPr>
            <a:r>
              <a:t>Useful branch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3977639"/>
            <a:ext cx="2880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B273C"/>
                </a:solidFill>
              </a:defRPr>
            </a:pPr>
            <a:r>
              <a:t>Simpler • More general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262872" y="2606040"/>
            <a:ext cx="0" cy="457200"/>
          </a:xfrm>
          <a:prstGeom prst="line">
            <a:avLst/>
          </a:prstGeom>
          <a:ln w="21590">
            <a:solidFill>
              <a:srgbClr val="4E91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920240" y="5074920"/>
            <a:ext cx="85039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A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B273C"/>
                </a:solidFill>
              </a:defRPr>
            </a:pPr>
            <a:r>
              <a:t>Pruning  →  Less complexity  →  Less overfitting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519672"/>
            <a:ext cx="10881360" cy="13716"/>
          </a:xfrm>
          <a:prstGeom prst="rect">
            <a:avLst/>
          </a:prstGeom>
          <a:solidFill>
            <a:srgbClr val="D3C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556248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478"/>
                </a:solidFill>
              </a:defRPr>
            </a:pPr>
            <a:r>
              <a:t>MACHINE LEARNING  •  DECISION TREE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A4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310896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B273C"/>
                </a:solidFill>
              </a:defRPr>
            </a:pPr>
            <a:r>
              <a:t>Advantages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4747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A4991"/>
                </a:solidFill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7782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6478"/>
                </a:solidFill>
              </a:defRPr>
            </a:pPr>
            <a:r>
              <a:t>A balanced view of when decision trees work well.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71600"/>
            <a:ext cx="5166360" cy="566928"/>
          </a:xfrm>
          <a:prstGeom prst="roundRect">
            <a:avLst/>
          </a:prstGeom>
          <a:solidFill>
            <a:srgbClr val="EDF8FD"/>
          </a:solidFill>
          <a:ln w="12700">
            <a:solidFill>
              <a:srgbClr val="8BC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4E91B4"/>
                </a:solidFill>
              </a:defRPr>
            </a:pPr>
            <a:r>
              <a:t>ADVANTAGES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71600"/>
            <a:ext cx="5166360" cy="566928"/>
          </a:xfrm>
          <a:prstGeom prst="roundRect">
            <a:avLst/>
          </a:prstGeom>
          <a:solidFill>
            <a:srgbClr val="FDF0F7"/>
          </a:solidFill>
          <a:ln w="12700">
            <a:solidFill>
              <a:srgbClr val="EEA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BE5B89"/>
                </a:solidFill>
              </a:defRPr>
            </a:pPr>
            <a: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4709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B273C"/>
                </a:solidFill>
              </a:defRPr>
            </a:pPr>
            <a:r>
              <a:t>•  Easy to understand and explain</a:t>
            </a:r>
          </a:p>
          <a:p>
            <a:pPr>
              <a:spcAft>
                <a:spcPts val="1200"/>
              </a:spcAft>
              <a:defRPr sz="1700">
                <a:solidFill>
                  <a:srgbClr val="2B273C"/>
                </a:solidFill>
              </a:defRPr>
            </a:pPr>
            <a:r>
              <a:t>•  Easy to visualize</a:t>
            </a:r>
          </a:p>
          <a:p>
            <a:pPr>
              <a:spcAft>
                <a:spcPts val="1200"/>
              </a:spcAft>
              <a:defRPr sz="1700">
                <a:solidFill>
                  <a:srgbClr val="2B273C"/>
                </a:solidFill>
              </a:defRPr>
            </a:pPr>
            <a:r>
              <a:t>•  Useful for classification</a:t>
            </a:r>
          </a:p>
          <a:p>
            <a:pPr>
              <a:spcAft>
                <a:spcPts val="1200"/>
              </a:spcAft>
              <a:defRPr sz="1700">
                <a:solidFill>
                  <a:srgbClr val="2B273C"/>
                </a:solidFill>
              </a:defRPr>
            </a:pPr>
            <a:r>
              <a:t>•  Little data preparation is needed</a:t>
            </a:r>
          </a:p>
          <a:p>
            <a:pPr>
              <a:spcAft>
                <a:spcPts val="1200"/>
              </a:spcAft>
              <a:defRPr sz="1700">
                <a:solidFill>
                  <a:srgbClr val="2B273C"/>
                </a:solidFill>
              </a:defRPr>
            </a:pPr>
            <a:r>
              <a:t>•  Rules are easy to 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4709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B273C"/>
                </a:solidFill>
              </a:defRPr>
            </a:pPr>
            <a:r>
              <a:t>•  Can overfit</a:t>
            </a:r>
          </a:p>
          <a:p>
            <a:pPr>
              <a:spcAft>
                <a:spcPts val="1200"/>
              </a:spcAft>
              <a:defRPr sz="1700">
                <a:solidFill>
                  <a:srgbClr val="2B273C"/>
                </a:solidFill>
              </a:defRPr>
            </a:pPr>
            <a:r>
              <a:t>•  Large trees can become complex</a:t>
            </a:r>
          </a:p>
          <a:p>
            <a:pPr>
              <a:spcAft>
                <a:spcPts val="1200"/>
              </a:spcAft>
              <a:defRPr sz="1700">
                <a:solidFill>
                  <a:srgbClr val="2B273C"/>
                </a:solidFill>
              </a:defRPr>
            </a:pPr>
            <a:r>
              <a:t>•  Small data changes may change the tree</a:t>
            </a:r>
          </a:p>
          <a:p>
            <a:pPr>
              <a:spcAft>
                <a:spcPts val="1200"/>
              </a:spcAft>
              <a:defRPr sz="1700">
                <a:solidFill>
                  <a:srgbClr val="2B273C"/>
                </a:solidFill>
              </a:defRPr>
            </a:pPr>
            <a:r>
              <a:t>•  Some splits may be biased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519672"/>
            <a:ext cx="10881360" cy="13716"/>
          </a:xfrm>
          <a:prstGeom prst="rect">
            <a:avLst/>
          </a:prstGeom>
          <a:solidFill>
            <a:srgbClr val="D3C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6556248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478"/>
                </a:solidFill>
              </a:defRPr>
            </a:pPr>
            <a:r>
              <a:t>MACHINE LEARNING  •  DECISION TREE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A4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310896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B273C"/>
                </a:solidFill>
              </a:defRPr>
            </a:pPr>
            <a:r>
              <a:t>Real-World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4747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A4991"/>
                </a:solidFill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7782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6478"/>
                </a:solidFill>
              </a:defRPr>
            </a:pPr>
            <a:r>
              <a:t>Simple rules make decision trees useful across many domains.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29200" cy="530352"/>
          </a:xfrm>
          <a:prstGeom prst="roundRect">
            <a:avLst/>
          </a:prstGeom>
          <a:solidFill>
            <a:srgbClr val="FDF0F7"/>
          </a:solidFill>
          <a:ln w="12700">
            <a:solidFill>
              <a:srgbClr val="EEA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B273C"/>
                </a:solidFill>
              </a:defRPr>
            </a:pPr>
            <a:r>
              <a:t>HEALTHCARE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50292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2B273C"/>
                </a:solidFill>
              </a:defRPr>
            </a:pPr>
            <a:r>
              <a:t>Disease classification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5029200" cy="530352"/>
          </a:xfrm>
          <a:prstGeom prst="roundRect">
            <a:avLst/>
          </a:prstGeom>
          <a:solidFill>
            <a:srgbClr val="F4EDFB"/>
          </a:solidFill>
          <a:ln w="12700">
            <a:solidFill>
              <a:srgbClr val="BEA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B273C"/>
                </a:solidFill>
              </a:defRPr>
            </a:pPr>
            <a:r>
              <a:t>BANKING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75688"/>
            <a:ext cx="50292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2B273C"/>
                </a:solidFill>
              </a:defRPr>
            </a:pPr>
            <a:r>
              <a:t>Loan approval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520439"/>
            <a:ext cx="5029200" cy="530352"/>
          </a:xfrm>
          <a:prstGeom prst="roundRect">
            <a:avLst/>
          </a:prstGeom>
          <a:solidFill>
            <a:srgbClr val="EDF8FD"/>
          </a:solidFill>
          <a:ln w="12700">
            <a:solidFill>
              <a:srgbClr val="8BC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B273C"/>
                </a:solidFill>
              </a:defRPr>
            </a:pPr>
            <a:r>
              <a:t>MARKETING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78807"/>
            <a:ext cx="50292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2B273C"/>
                </a:solidFill>
              </a:defRPr>
            </a:pPr>
            <a:r>
              <a:t>Customer classification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520439"/>
            <a:ext cx="5029200" cy="530352"/>
          </a:xfrm>
          <a:prstGeom prst="roundRect">
            <a:avLst/>
          </a:prstGeom>
          <a:solidFill>
            <a:srgbClr val="FDF0F7"/>
          </a:solidFill>
          <a:ln w="12700">
            <a:solidFill>
              <a:srgbClr val="EEA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B273C"/>
                </a:solidFill>
              </a:defRPr>
            </a:pPr>
            <a:r>
              <a:t>AGRICULTURE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178807"/>
            <a:ext cx="50292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2B273C"/>
                </a:solidFill>
              </a:defRPr>
            </a:pPr>
            <a:r>
              <a:t>Crop-related decisions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5486400"/>
            <a:ext cx="9326880" cy="566928"/>
          </a:xfrm>
          <a:prstGeom prst="roundRect">
            <a:avLst/>
          </a:prstGeom>
          <a:solidFill>
            <a:srgbClr val="F4EDFB"/>
          </a:solidFill>
          <a:ln w="12700">
            <a:solidFill>
              <a:srgbClr val="D3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6A4991"/>
                </a:solidFill>
              </a:defRPr>
            </a:pPr>
            <a:r>
              <a:t>Decision trees work especially well when decisions can be expressed as clear rules.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519672"/>
            <a:ext cx="10881360" cy="13716"/>
          </a:xfrm>
          <a:prstGeom prst="rect">
            <a:avLst/>
          </a:prstGeom>
          <a:solidFill>
            <a:srgbClr val="D3C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6556248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478"/>
                </a:solidFill>
              </a:defRPr>
            </a:pPr>
            <a:r>
              <a:t>MACHINE LEARNING  •  DECISION TREE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A4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310896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B273C"/>
                </a:solidFill>
              </a:defRPr>
            </a:pPr>
            <a:r>
              <a:t>Classification &amp; Decision Making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4747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A4991"/>
                </a:solidFill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7782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6478"/>
                </a:solidFill>
              </a:defRPr>
            </a:pPr>
            <a:r>
              <a:t>From input features to an interpretable final decision.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2514600" cy="713232"/>
          </a:xfrm>
          <a:prstGeom prst="roundRect">
            <a:avLst/>
          </a:prstGeom>
          <a:solidFill>
            <a:srgbClr val="EDF8FD"/>
          </a:solidFill>
          <a:ln w="12700">
            <a:solidFill>
              <a:srgbClr val="8BC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4E91B4"/>
                </a:solidFill>
              </a:defRPr>
            </a:pPr>
            <a:r>
              <a:t>INPUT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1508760"/>
            <a:ext cx="2606040" cy="713232"/>
          </a:xfrm>
          <a:prstGeom prst="roundRect">
            <a:avLst/>
          </a:prstGeom>
          <a:solidFill>
            <a:srgbClr val="F4EDFB"/>
          </a:solidFill>
          <a:ln w="12700">
            <a:solidFill>
              <a:srgbClr val="6A4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6A4991"/>
                </a:solidFill>
              </a:defRPr>
            </a:pPr>
            <a:r>
              <a:t>DECISION TREE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1508760"/>
            <a:ext cx="2514600" cy="713232"/>
          </a:xfrm>
          <a:prstGeom prst="roundRect">
            <a:avLst/>
          </a:prstGeom>
          <a:solidFill>
            <a:srgbClr val="FDF0F7"/>
          </a:solidFill>
          <a:ln w="12700">
            <a:solidFill>
              <a:srgbClr val="EEA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BE5B89"/>
                </a:solidFill>
              </a:defRPr>
            </a:pPr>
            <a:r>
              <a:t>PREDICTION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91840" y="1865376"/>
            <a:ext cx="1508760" cy="0"/>
          </a:xfrm>
          <a:prstGeom prst="line">
            <a:avLst/>
          </a:prstGeom>
          <a:ln w="21590">
            <a:solidFill>
              <a:srgbClr val="D3C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406640" y="1865376"/>
            <a:ext cx="1508760" cy="0"/>
          </a:xfrm>
          <a:prstGeom prst="line">
            <a:avLst/>
          </a:prstGeom>
          <a:ln w="21590">
            <a:solidFill>
              <a:srgbClr val="D3C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" y="2880360"/>
            <a:ext cx="2880360" cy="530352"/>
          </a:xfrm>
          <a:prstGeom prst="roundRect">
            <a:avLst/>
          </a:prstGeom>
          <a:solidFill>
            <a:srgbClr val="BEA0EB"/>
          </a:solidFill>
          <a:ln w="12700">
            <a:solidFill>
              <a:srgbClr val="6A4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B273C"/>
                </a:solidFill>
              </a:defRPr>
            </a:pPr>
            <a:r>
              <a:t>Classification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566160"/>
            <a:ext cx="28803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2B273C"/>
                </a:solidFill>
              </a:defRPr>
            </a:pPr>
            <a:r>
              <a:t>Disease / Healthy</a:t>
            </a:r>
            <a:br/>
            <a:r>
              <a:t>Spam / Not Spam</a:t>
            </a:r>
            <a:br/>
            <a:r>
              <a:t>Pass / Fail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2880360"/>
            <a:ext cx="2880360" cy="530352"/>
          </a:xfrm>
          <a:prstGeom prst="roundRect">
            <a:avLst/>
          </a:prstGeom>
          <a:solidFill>
            <a:srgbClr val="EEA4C4"/>
          </a:solidFill>
          <a:ln w="12700">
            <a:solidFill>
              <a:srgbClr val="BE5B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B273C"/>
                </a:solidFill>
              </a:defRPr>
            </a:pPr>
            <a:r>
              <a:t>Decision Making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3566160"/>
            <a:ext cx="28803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2B273C"/>
                </a:solidFill>
              </a:defRPr>
            </a:pPr>
            <a:r>
              <a:t>Approve / Reject</a:t>
            </a:r>
            <a:br/>
            <a:r>
              <a:t>Buy / Don't Buy</a:t>
            </a:r>
            <a:br/>
            <a:r>
              <a:t>Play / Don't Play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2880360"/>
            <a:ext cx="2880360" cy="530352"/>
          </a:xfrm>
          <a:prstGeom prst="roundRect">
            <a:avLst/>
          </a:prstGeom>
          <a:solidFill>
            <a:srgbClr val="8BC7E6"/>
          </a:solidFill>
          <a:ln w="12700">
            <a:solidFill>
              <a:srgbClr val="4E9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Key idea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3566160"/>
            <a:ext cx="28803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>
                <a:solidFill>
                  <a:srgbClr val="2B273C"/>
                </a:solidFill>
              </a:defRPr>
            </a:pPr>
            <a:r>
              <a:t>Questions + rules</a:t>
            </a:r>
            <a:br/>
            <a:r>
              <a:t>→ final outcome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519672"/>
            <a:ext cx="10881360" cy="13716"/>
          </a:xfrm>
          <a:prstGeom prst="rect">
            <a:avLst/>
          </a:prstGeom>
          <a:solidFill>
            <a:srgbClr val="D3C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6556248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478"/>
                </a:solidFill>
              </a:defRPr>
            </a:pPr>
            <a:r>
              <a:t>MACHINE LEARNING  •  DECISION TREE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A4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310896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B273C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4747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A4991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7782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6478"/>
                </a:solidFill>
              </a:defRPr>
            </a:pPr>
            <a:r>
              <a:t>Four ideas are enough to remember the topic.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325880"/>
            <a:ext cx="502920" cy="502920"/>
          </a:xfrm>
          <a:prstGeom prst="roundRect">
            <a:avLst/>
          </a:prstGeom>
          <a:solidFill>
            <a:srgbClr val="BEA0EB"/>
          </a:solidFill>
          <a:ln w="12700">
            <a:solidFill>
              <a:srgbClr val="6A4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B273C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307592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B273C"/>
                </a:solidFill>
              </a:defRPr>
            </a:pPr>
            <a:r>
              <a:t>Decision Tree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307592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96478"/>
                </a:solidFill>
              </a:defRPr>
            </a:pPr>
            <a:r>
              <a:t>Questions → branches → decision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258568"/>
            <a:ext cx="502920" cy="502920"/>
          </a:xfrm>
          <a:prstGeom prst="roundRect">
            <a:avLst/>
          </a:prstGeom>
          <a:solidFill>
            <a:srgbClr val="EEA4C4"/>
          </a:solidFill>
          <a:ln w="12700">
            <a:solidFill>
              <a:srgbClr val="BE5B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B273C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240279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B273C"/>
                </a:solidFill>
              </a:defRPr>
            </a:pPr>
            <a:r>
              <a:t>Entropy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240279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96478"/>
                </a:solidFill>
              </a:defRPr>
            </a:pPr>
            <a:r>
              <a:t>Measures impurity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191256"/>
            <a:ext cx="502920" cy="502920"/>
          </a:xfrm>
          <a:prstGeom prst="roundRect">
            <a:avLst/>
          </a:prstGeom>
          <a:solidFill>
            <a:srgbClr val="8BC7E6"/>
          </a:solidFill>
          <a:ln w="12700">
            <a:solidFill>
              <a:srgbClr val="4E9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B273C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172968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B273C"/>
                </a:solidFill>
              </a:defRPr>
            </a:pPr>
            <a:r>
              <a:t>Information Gain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172968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96478"/>
                </a:solidFill>
              </a:defRPr>
            </a:pPr>
            <a:r>
              <a:t>Chooses a useful split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123944"/>
            <a:ext cx="502920" cy="502920"/>
          </a:xfrm>
          <a:prstGeom prst="roundRect">
            <a:avLst/>
          </a:prstGeom>
          <a:solidFill>
            <a:srgbClr val="BEA0EB"/>
          </a:solidFill>
          <a:ln w="12700">
            <a:solidFill>
              <a:srgbClr val="6A4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B273C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105656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B273C"/>
                </a:solidFill>
              </a:defRPr>
            </a:pPr>
            <a:r>
              <a:t>Pruning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105656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96478"/>
                </a:solidFill>
              </a:defRPr>
            </a:pPr>
            <a:r>
              <a:t>Reduces complexity and overfitting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80" y="5394960"/>
            <a:ext cx="72237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6A4991"/>
                </a:solidFill>
              </a:defRPr>
            </a:pPr>
            <a:r>
              <a:t>QUESTIONS  →  BRANCHES  →  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61722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BE5B89"/>
                </a:solidFill>
              </a:defRPr>
            </a:pPr>
            <a:r>
              <a:t>Thank You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519672"/>
            <a:ext cx="10881360" cy="13716"/>
          </a:xfrm>
          <a:prstGeom prst="rect">
            <a:avLst/>
          </a:prstGeom>
          <a:solidFill>
            <a:srgbClr val="D3C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6556248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478"/>
                </a:solidFill>
              </a:defRPr>
            </a:pPr>
            <a:r>
              <a:rPr dirty="0"/>
              <a:t>MACHINE LEARNING  •  DECISION TREE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514</Words>
  <Application>Microsoft Office PowerPoint</Application>
  <PresentationFormat>Widescreen</PresentationFormat>
  <Paragraphs>139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Pooja S</cp:lastModifiedBy>
  <cp:revision>1</cp:revision>
  <dcterms:created xsi:type="dcterms:W3CDTF">2013-01-27T09:14:16Z</dcterms:created>
  <dcterms:modified xsi:type="dcterms:W3CDTF">2026-10-07T09:16:33Z</dcterms:modified>
  <cp:category/>
</cp:coreProperties>
</file>